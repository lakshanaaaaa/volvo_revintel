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7"/>
          </a:solidFill>
          <a:ln>
            <a:solidFill>
              <a:srgbClr val="0D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8EFF"/>
                </a:solidFill>
              </a:defRPr>
            </a:pPr>
            <a:r>
              <a:t>SLIDE 1 OF 5 · CHALLENGE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3FF"/>
                </a:solidFill>
              </a:defRPr>
            </a:pPr>
            <a:r>
              <a:t>Manager Problem Solved &amp; Three Critical Grounded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The Manager's Challenge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A sales manager receives fragmented streams of calls, meetings, transcripts, and upstream notes.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Records arrive out-of-sequence; some conversations serve non-sales purposes, and stored telemetry tags often contradict actual spoken content.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SpendNest's Revenue Intelligence Inbox provides an operational workspace answering: What actually happened? Who needs attention? What is the verified next action?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Strictly grounded in 44 selected records for 21 Aug 2026 IST across 5 SDR reps and 10 meeting organizer inboxes.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7132320" cy="146304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4D6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Finding 1: Upstream Telephony Disconnect False Positives (B11/B14 vs C04)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What was noticed: Upstream telemetry marked B11/B14 as is_connected=true despite being unresponsive, while marking C04 as is_connected=false despite rep Arun leaving a complete 95s voicemail pitch.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Passage Evidence: Call C04 quote: 'Arun from SpendNest, following up on our earlier conversation about expense software...'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Product Impact: Dashboard isolates Source-Reported Connect Rate (11/30 = 36.7%) with explicit denominator; Inbox preserves C04 as an actionable touchpoint rather than a discarded failed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200400"/>
            <a:ext cx="7132320" cy="146304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4D6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38328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Finding 2: Meeting M10 is Internal Operational Enablement, Not Customer Pipeline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What was noticed: Calendar meeting M10 ('Billing workflow walkthrough') has 3 internal SpendNest staff (Team members A, B, C) discussing back-office billing access permissions with zero external prospects.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Passage Evidence: Meeting M10, Turn 20: 'I will request the back-office access separately for the next training session...'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Product Impact: Routed strictly to Internal; excluded from sales conversion metrics and deal follow-ups on the Manager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846320"/>
            <a:ext cx="7132320" cy="146304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4D6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50292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Finding 3: Meeting M02 is Supplier Evaluation Where SpendNest is the Buyer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What was noticed: M02 ('LedgerBridge discussion') is an infrastructure review where SpendNest strategy team evaluates LedgerBridge as a card issuing and banking supplier.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Passage Evidence: Meeting M02, Turn 1: 'I work on strategy and partnerships at SpendNest... we are developing our infrastructure.'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Product Impact: Classified under Partner/Vendor; excluded from sales pipeline and rep quota forecasting to prevent artificial ARR inflation.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7"/>
          </a:solidFill>
          <a:ln>
            <a:solidFill>
              <a:srgbClr val="0D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8EFF"/>
                </a:solidFill>
              </a:defRPr>
            </a:pPr>
            <a:r>
              <a:t>SLIDE 2 OF 5 · UX ARCHITECTURE &amp;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3FF"/>
                </a:solidFill>
              </a:defRPr>
            </a:pPr>
            <a:r>
              <a:t>Interface Choices &amp; Deliberate Omissions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Interface Choices: Why They Matter to a Manager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Master-Detail Inbox: Left panel provides instant scannability by ref (C01-C10, M01-M14), rep, and outcome; right panel shows turn-by-turn dialogue with speakers and timecodes.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Explicit Denominators: Every headline card defines its base: Transcript Coverage is 18/44 total records (40.9%); Connect Rate is 11/30 calls (36.7%). Prevents misleading percentages.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Separated Rep vs Organiser Roles: Telephony calls have assigned SDR reps (Arun, Meera, Kiran, Dev, Leela); calendar meetings list organizer email accounts. An organizer is not assumed to be the AE or attendee.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Dedicated Manager Brief: Fixed-date (21 Aug 2026 IST) executive summary distilling priority deals, coaching observations, and follow-up deadlines.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One-Click Replay Simulator: Interactive modal allows reviewers to execute the exact test sequence (Initial -&gt; Repeat -&gt; Manual Route -&gt; Update -&gt; Refresh).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What Was Deliberately Left Out (and Why)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NO Speculative Deal Currency ($ARR) or Win Probabilities: No authoritative CRM opportunity table or deal size exists in the data. Inventing pipeline totals would create false executive confidence.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NO Single 'Sales Rep Leaderboard': 5 reps made cold calls while 10 different organizer accounts scheduled meetings. Combining them into one competitive ranking would penalize reps without meeting allocations.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NO Generic AI Hallucinations for Background Records: 20 calls (B01-B20) and 6 meetings have no supplied transcript. We intentionally do not invent summaries; they are filed cleanly as Intake/Background.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NO Destructive Partial Merges: In accordance with Data Contract Rule 3, newer delivery revisions overwrite entire payload and transcript objects rather than attempting risky partial field merges.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7"/>
          </a:solidFill>
          <a:ln>
            <a:solidFill>
              <a:srgbClr val="0D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8EFF"/>
                </a:solidFill>
              </a:defRPr>
            </a:pPr>
            <a:r>
              <a:t>SLIDE 3 OF 5 · ROUTING &amp;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3FF"/>
                </a:solidFill>
              </a:defRPr>
            </a:pPr>
            <a:r>
              <a:t>Routing Taxonomy, Output Organisation &amp; A Difficult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Taxonomy &amp; Folder Architecture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8 Differentiated Route Destinations: Sales Coaching, Deal Follow-up, Customer Follow-up, CS/Support, Partner/Vendor, Internal, Background, Needs Review.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Multi-Route Capability: High-impact conversations can produce multiple outputs (e.g. C03 yields Deal Follow-up for bank specs + Sales Coaching for rep Kiran).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Organised Output Directory: Real generated files in exports/ organised by route subfolders (sales_coaching/, deal_followup/, etc.), plus daily_briefs/.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Machine-Readable Manifest: Both manifest.json and manifest.csv generated, listing source identity, applied revision, routes, relative file paths, and manual override flags.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Idempotent Generation: Repeat exports replace prior active outputs without creating duplicate file proliferation.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Difficult Routing Case: Meeting M02 (LedgerBridge)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The Conflict: The calendar title 'LedgerBridge / SpendNest discussion' resembles an outbound sales demo. Upstream metadata does not disclose whether LedgerBridge is a customer or supplier.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Evidence Uncovered: In Turn 1, SpendNest's rep states: 'I work on strategy and partnerships... we are developing our infrastructure.' In Turn 36, Supplier A states: 'I will send the template shortly.' SpendNest is negotiating to purchase API access.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Decision &amp; Trade-off: Routed to Partner/Vendor rather than Deal Follow-up. Accepted trade-off: reduces pipeline meeting volume by 1, but guarantees that internal vendor evaluations are never counted toward sales quota.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Late Update Handling (M07): In Batch 1, M07 has 0 turns. When Batch 2 arrives with a 27-turn transcript, the engine updates the text but strictly preserves any manual route correction set by the manager.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7"/>
          </a:solidFill>
          <a:ln>
            <a:solidFill>
              <a:srgbClr val="0D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8EFF"/>
                </a:solidFill>
              </a:defRPr>
            </a:pPr>
            <a:r>
              <a:t>SLIDE 4 OF 5 · EVIDENCE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3FF"/>
                </a:solidFill>
              </a:defRPr>
            </a:pPr>
            <a:r>
              <a:t>Source Verification of a Key Metric &amp; Analytical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How a Key Number Was Verified: Connection Rate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Headline Number: Source-Reported Call Connect Rate = 11 / 30 (36.7%).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Step 1 - Denominator Verification: Queried all 44 records in data/01_initial.json. Exactly 30 records have source_type='call'. All 30 have non-null is_connected (11 true, 19 false, 0 null).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Step 2 - Transcript Audit: Cross-referenced with the 10 call transcripts. Discovered that 9 connected calls have substantive transcripts (C01, C02, C03, C05, C06, C07, C08, C09, C10).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Step 3 - Edge Case Isolation: Calls B11 (26s) and B14 (9s) were marked is_connected=true but observed_outcome='unresponsive'. Call C04 (95s) was marked is_connected=false despite a full voicemail pitch.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Conclusion: Stored connection status is a legacy telephony classifier, not ground truth. Displaying it with explicit notes prevents misinformed sales coaching.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How an Analytical Conclusion Was Verified: Asterloom (M03)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Analytical Conclusion: Sales team must pause scheduling meetings and immediately deliver technical CFO documentation.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Passage Verification: Meeting M03, Turn 36. Customer B (Finance): 'Send the details first. We need time with the CFO and will tell you if another call is needed. Let us make that decision.'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Contextual Grounding: Earlier in the call (Turn 24), Team Member A attempted to close for another meeting next Tuesday. Customer B firmly pushed back, establishing that internal CFO review must precede any further discussions.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Actionable Guidance: In our Daily Brief and Deal Follow-up output, the action item is strictly assigned to delivering an executive summary deck and security whitepaper, preventing premature rep harassment of the prospect.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7"/>
          </a:solidFill>
          <a:ln>
            <a:solidFill>
              <a:srgbClr val="0D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8EFF"/>
                </a:solidFill>
              </a:defRPr>
            </a:pPr>
            <a:r>
              <a:t>SLIDE 5 OF 5 · DECISIONS &amp;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3FF"/>
                </a:solidFill>
              </a:defRPr>
            </a:pPr>
            <a:r>
              <a:t>Deliberately Rejected Decision, AI Usage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Deliberately Rejected Decision &amp; Trade-off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Decision Rejected: Inferring or estimating pipeline deal values ($ARR) from conversational cues (e.g. estimating Asterloom at $50k or Willowbank at $100k).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Why Rejected: The brief and dictionary state: 'No CRM opportunity table, authoritative deal value, full account history or confirmed staff-role directory is supplied... missing inputs cannot be replaced by guesses.' Fabricating monetary numbers damages managerial credibility.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Trade-off Accepted: The dashboard omits a total pipeline ARR card. In return, the manager receives 100% trustworthy operational signals: verified conversation topics, next steps with explicit owners, and grounded coaching notes.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Resulting Choice in Product: Follow-up Priorities on the Manager Brief are organized by qualitative urgency (Today, Tuesday, Thursday) rather than unverified revenue sizing.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724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C8EFF"/>
                </a:solidFill>
              </a:defRPr>
            </a:pPr>
            <a:r>
              <a:t>AI Usage, Limitations &amp; Next Improvements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AI Usage: Conversational synthesis and citation mapping were pre-generated with LLMs and validated against source turns; client-side engine deterministically executes replay, filtering, and export generation.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Known Limitations: The extract is a selected sample of 44 interactions on 21 Aug 2026 IST, not a whole-team representation; audio media was not supplied; 26 records lack conversation text.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Replay Guarantee: Re-importing 01_initial maintains 44 records; manual route on M07 persists through 02_update and browser restart.</a:t>
            </a:r>
          </a:p>
          <a:p>
            <a:pPr>
              <a:spcAft>
                <a:spcPts val="600"/>
              </a:spcAft>
              <a:defRPr sz="1050">
                <a:solidFill>
                  <a:srgbClr val="9BA3C4"/>
                </a:solidFill>
              </a:defRPr>
            </a:pPr>
            <a:r>
              <a:t>• What We Would Build Next: Direct bidirectional CRM sync (Salesforce/HubSpot webhook connector), automated diarization confidence scores, and rep-level talk-to-listen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